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yourself and the project: a platform that trains people to avoid attacks and gives the organisation a structured way to respond when they happen.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gaps: awareness, response process, and measurement. The project addresses all three in one system.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Scope: web app for all roles plus a Flutter mobile client for learners and reporters.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Single versioned REST API serves both clients. Each request is authenticated with JWT, authorised by role, handled by a domain service, and mutations are audit logged.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Eight modules; the first three build awareness, the next two handle response, the last three give oversight.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Permissions are enforced per viewset and action on the server, not only hidden in the UI.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the demo here if time allows: report as user, then work it as officer.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security-awareness product must itself be secure. Production flags: HTTPS redirect, secure cookies, HSTS.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Mature, well documented tools chosen for maintainability. API-first design let web and mobile share one backend.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Run pytest live if asked. Be ready to point at the evidence validation tests.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Tie each challenge to a concrete decision in the code.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Summarise, then invite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75120" y="914400"/>
            <a:ext cx="2194560" cy="2194560"/>
          </a:xfrm>
          <a:prstGeom prst="ellipse">
            <a:avLst/>
          </a:prstGeom>
          <a:solidFill>
            <a:srgbClr val="14B8A6">
              <a:alpha val="25000"/>
            </a:srgbClr>
          </a:solidFill>
          <a:ln w="25400">
            <a:solidFill>
              <a:srgbClr val="14B8A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223760" y="1463040"/>
            <a:ext cx="1097280" cy="1097280"/>
          </a:xfrm>
          <a:prstGeom prst="ellipse">
            <a:avLst/>
          </a:prstGeom>
          <a:solidFill>
            <a:srgbClr val="14B8A6">
              <a:alpha val="60000"/>
            </a:srgbClr>
          </a:solidFill>
          <a:ln w="25400">
            <a:solidFill>
              <a:srgbClr val="14B8A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37160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CyberShield Hub</a:t>
            </a:r>
            <a:endParaRPr lang="en-US" sz="4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377440"/>
            <a:ext cx="5852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cybersecurity awareness and incident response platform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9319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Defence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 we set out to solve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75488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CyberShield Hub  |  2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2560320" cy="2377440"/>
          </a:xfrm>
          <a:prstGeom prst="roundRect">
            <a:avLst>
              <a:gd name="adj" fmla="val 3077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2801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are the weak link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1645920"/>
            <a:ext cx="22860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and social engineering succeed because staff are untrained or untested.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291840" y="1188720"/>
            <a:ext cx="2560320" cy="2377440"/>
          </a:xfrm>
          <a:prstGeom prst="roundRect">
            <a:avLst>
              <a:gd name="adj" fmla="val 3077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429000" y="12801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Incidents get lost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3429000" y="1645920"/>
            <a:ext cx="22860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 arrive by email or chat, with no owner, status or evidence trail.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035040" y="1188720"/>
            <a:ext cx="2560320" cy="2377440"/>
          </a:xfrm>
          <a:prstGeom prst="roundRect">
            <a:avLst>
              <a:gd name="adj" fmla="val 3077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172200" y="12801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visibility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6172200" y="1645920"/>
            <a:ext cx="22860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 cannot measure awareness, risk or response performance.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388620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one platform that trains, tests, reports, responds and measures.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Objectives and scope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75488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CyberShield Hub  |  3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548640" cy="548640"/>
          </a:xfrm>
          <a:prstGeom prst="ellipse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188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325880" y="11430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 training and assessment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Lessons, quizzes and a phishing simulator with scored feedback.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48640" y="2011680"/>
            <a:ext cx="548640" cy="548640"/>
          </a:xfrm>
          <a:prstGeom prst="ellipse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20116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1325880" y="19659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Streamline incident response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 with evidence, SOC queue, assignment and status workflow.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548640" y="2834640"/>
            <a:ext cx="548640" cy="548640"/>
          </a:xfrm>
          <a:prstGeom prst="ellipse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" y="2834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1325880" y="27889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 least privilege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roles with permissions checked on every API action.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548640" y="3657600"/>
            <a:ext cx="548640" cy="548640"/>
          </a:xfrm>
          <a:prstGeom prst="ellipse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48640" y="3657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1325880" y="36118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accountability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for decisions and an audit log of every change.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75488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CyberShield Hub  |  4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1280160"/>
            <a:ext cx="2651760" cy="1737360"/>
          </a:xfrm>
          <a:prstGeom prst="roundRect">
            <a:avLst>
              <a:gd name="adj" fmla="val 5263"/>
            </a:avLst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3716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Clients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182880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18 + Vite web app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Flutter mobile app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246120" y="1280160"/>
            <a:ext cx="2651760" cy="1737360"/>
          </a:xfrm>
          <a:prstGeom prst="roundRect">
            <a:avLst>
              <a:gd name="adj" fmla="val 5263"/>
            </a:avLst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383280" y="13716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3383280" y="182880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Django 5 + DRF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/api/v1, Swagger docs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943600" y="1280160"/>
            <a:ext cx="2651760" cy="1737360"/>
          </a:xfrm>
          <a:prstGeom prst="roundRect">
            <a:avLst>
              <a:gd name="adj" fmla="val 5263"/>
            </a:avLst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080760" y="13716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6080760" y="182880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(default)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8 supported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storage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32918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pipeline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48640" y="3703320"/>
            <a:ext cx="1828800" cy="548640"/>
          </a:xfrm>
          <a:prstGeom prst="roundRect">
            <a:avLst>
              <a:gd name="adj" fmla="val 13333"/>
            </a:avLst>
          </a:prstGeom>
          <a:solidFill>
            <a:srgbClr val="F1F5F9"/>
          </a:solidFill>
          <a:ln w="19050">
            <a:solidFill>
              <a:srgbClr val="14B8A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48640" y="370332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auth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2606040" y="3703320"/>
            <a:ext cx="1828800" cy="548640"/>
          </a:xfrm>
          <a:prstGeom prst="roundRect">
            <a:avLst>
              <a:gd name="adj" fmla="val 13333"/>
            </a:avLst>
          </a:prstGeom>
          <a:solidFill>
            <a:srgbClr val="F1F5F9"/>
          </a:solidFill>
          <a:ln w="19050">
            <a:solidFill>
              <a:srgbClr val="14B8A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2606040" y="370332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RBAC check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663440" y="3703320"/>
            <a:ext cx="1828800" cy="548640"/>
          </a:xfrm>
          <a:prstGeom prst="roundRect">
            <a:avLst>
              <a:gd name="adj" fmla="val 13333"/>
            </a:avLst>
          </a:prstGeom>
          <a:solidFill>
            <a:srgbClr val="F1F5F9"/>
          </a:solidFill>
          <a:ln w="19050">
            <a:solidFill>
              <a:srgbClr val="14B8A6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663440" y="370332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service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720840" y="3703320"/>
            <a:ext cx="1828800" cy="548640"/>
          </a:xfrm>
          <a:prstGeom prst="roundRect">
            <a:avLst>
              <a:gd name="adj" fmla="val 13333"/>
            </a:avLst>
          </a:prstGeom>
          <a:solidFill>
            <a:srgbClr val="F1F5F9"/>
          </a:solidFill>
          <a:ln w="19050">
            <a:solidFill>
              <a:srgbClr val="14B8A6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720840" y="370332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log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 modules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75488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CyberShield Hub  |  5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1874520" cy="1508760"/>
          </a:xfrm>
          <a:prstGeom prst="roundRect">
            <a:avLst>
              <a:gd name="adj" fmla="val 4848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28016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1645920"/>
            <a:ext cx="1600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Categorised lessons, progress, bookmarks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606040" y="1188720"/>
            <a:ext cx="1874520" cy="1508760"/>
          </a:xfrm>
          <a:prstGeom prst="roundRect">
            <a:avLst>
              <a:gd name="adj" fmla="val 4848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743200" y="128016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Quizzes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2743200" y="1645920"/>
            <a:ext cx="1600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Timed, scored, weakness analysis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663440" y="1188720"/>
            <a:ext cx="1874520" cy="1508760"/>
          </a:xfrm>
          <a:prstGeom prst="roundRect">
            <a:avLst>
              <a:gd name="adj" fmla="val 4848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800600" y="128016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lab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4800600" y="1645920"/>
            <a:ext cx="1600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 emails, flag red flags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720840" y="1188720"/>
            <a:ext cx="1874520" cy="1508760"/>
          </a:xfrm>
          <a:prstGeom prst="roundRect">
            <a:avLst>
              <a:gd name="adj" fmla="val 4848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858000" y="128016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Incidents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6858000" y="1645920"/>
            <a:ext cx="1600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with evidence, track status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48640" y="2880360"/>
            <a:ext cx="1874520" cy="1508760"/>
          </a:xfrm>
          <a:prstGeom prst="roundRect">
            <a:avLst>
              <a:gd name="adj" fmla="val 4848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85800" y="297180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 queue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685800" y="3337560"/>
            <a:ext cx="1600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Kanban, assign, escalate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2606040" y="2880360"/>
            <a:ext cx="1874520" cy="1508760"/>
          </a:xfrm>
          <a:prstGeom prst="roundRect">
            <a:avLst>
              <a:gd name="adj" fmla="val 4848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2743200" y="297180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2743200" y="3337560"/>
            <a:ext cx="1600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and organisation metrics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663440" y="2880360"/>
            <a:ext cx="1874520" cy="1508760"/>
          </a:xfrm>
          <a:prstGeom prst="roundRect">
            <a:avLst>
              <a:gd name="adj" fmla="val 4848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800600" y="297180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Alerts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4800600" y="3337560"/>
            <a:ext cx="1600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Advisories and notifications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6720840" y="2880360"/>
            <a:ext cx="1874520" cy="1508760"/>
          </a:xfrm>
          <a:prstGeom prst="roundRect">
            <a:avLst>
              <a:gd name="adj" fmla="val 4848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858000" y="297180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log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6858000" y="3337560"/>
            <a:ext cx="1600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Filterable, CSV export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Role-based access control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75488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CyberShield Hub  |  6</a:t>
            </a:r>
            <a:endParaRPr lang="en-US" sz="1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88720"/>
          <a:ext cx="8046720" cy="914400"/>
        </p:xfrm>
        <a:graphic>
          <a:graphicData uri="http://schemas.openxmlformats.org/drawingml/2006/table">
            <a:tbl>
              <a:tblPr/>
              <a:tblGrid>
                <a:gridCol w="4206240"/>
                <a:gridCol w="1280160"/>
                <a:gridCol w="1280160"/>
                <a:gridCol w="1280160"/>
              </a:tblGrid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Capability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Officer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Admin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3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Training, quizzes, phishing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0F76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0F76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0F76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Report own incidents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0F76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0F76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0F76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Manage all incidents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E11D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0F76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0F76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Organisation analytics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E11D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0F76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0F76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Manage alerts, view audit log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E11D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0F76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0F76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Manage users and roles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E11D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E11D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0F76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Incident response workflow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75488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CyberShield Hub  |  7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1280160"/>
            <a:ext cx="1417320" cy="731520"/>
          </a:xfrm>
          <a:prstGeom prst="roundRect">
            <a:avLst>
              <a:gd name="adj" fmla="val 12500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280160"/>
            <a:ext cx="1417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2194560" y="1280160"/>
            <a:ext cx="1417320" cy="731520"/>
          </a:xfrm>
          <a:prstGeom prst="roundRect">
            <a:avLst>
              <a:gd name="adj" fmla="val 12500"/>
            </a:avLst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194560" y="1280160"/>
            <a:ext cx="1417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Triage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840480" y="1280160"/>
            <a:ext cx="1417320" cy="731520"/>
          </a:xfrm>
          <a:prstGeom prst="roundRect">
            <a:avLst>
              <a:gd name="adj" fmla="val 12500"/>
            </a:avLst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840480" y="1280160"/>
            <a:ext cx="1417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486400" y="1280160"/>
            <a:ext cx="1417320" cy="731520"/>
          </a:xfrm>
          <a:prstGeom prst="roundRect">
            <a:avLst>
              <a:gd name="adj" fmla="val 12500"/>
            </a:avLst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0" y="1280160"/>
            <a:ext cx="1417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Investigate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132320" y="1280160"/>
            <a:ext cx="1417320" cy="731520"/>
          </a:xfrm>
          <a:prstGeom prst="roundRect">
            <a:avLst>
              <a:gd name="adj" fmla="val 12500"/>
            </a:avLst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132320" y="1280160"/>
            <a:ext cx="1417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48640" y="2468880"/>
            <a:ext cx="2560320" cy="2011680"/>
          </a:xfrm>
          <a:prstGeom prst="roundRect">
            <a:avLst>
              <a:gd name="adj" fmla="val 3636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85800" y="25603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Intake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685800" y="2926080"/>
            <a:ext cx="2286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reference number, drafts, evidence upload with file type and size checks.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3291840" y="2468880"/>
            <a:ext cx="2560320" cy="2011680"/>
          </a:xfrm>
          <a:prstGeom prst="roundRect">
            <a:avLst>
              <a:gd name="adj" fmla="val 3636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3429000" y="25603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 queue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3429000" y="2926080"/>
            <a:ext cx="2286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Officers see a Kanban queue, assign owners, escalate and change status.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035040" y="2468880"/>
            <a:ext cx="2560320" cy="2011680"/>
          </a:xfrm>
          <a:prstGeom prst="roundRect">
            <a:avLst>
              <a:gd name="adj" fmla="val 3636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172200" y="25603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6172200" y="2926080"/>
            <a:ext cx="2286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transition is recorded, with internal notes visible to staff only.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Security measures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75488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CyberShield Hub  |  8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3931920" cy="1508760"/>
          </a:xfrm>
          <a:prstGeom prst="roundRect">
            <a:avLst>
              <a:gd name="adj" fmla="val 4848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2801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with rotation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1645920"/>
            <a:ext cx="3657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Short-lived access tokens, refresh rotation and blacklist, session revocation.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663440" y="1188720"/>
            <a:ext cx="3931920" cy="1508760"/>
          </a:xfrm>
          <a:prstGeom prst="roundRect">
            <a:avLst>
              <a:gd name="adj" fmla="val 4848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800600" y="12801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Abuse protection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4800600" y="1645920"/>
            <a:ext cx="3657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Throttling on anonymous, authenticated and auth endpoints; login attempt tracking.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2880360"/>
            <a:ext cx="3931920" cy="1508760"/>
          </a:xfrm>
          <a:prstGeom prst="roundRect">
            <a:avLst>
              <a:gd name="adj" fmla="val 4848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85800" y="29718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safety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685800" y="3337560"/>
            <a:ext cx="3657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ORM-only queries, evidence allow-list and size limits, CSRF and security headers.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663440" y="2880360"/>
            <a:ext cx="3931920" cy="1508760"/>
          </a:xfrm>
          <a:prstGeom prst="roundRect">
            <a:avLst>
              <a:gd name="adj" fmla="val 4848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800600" y="29718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Accountability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4800600" y="3337560"/>
            <a:ext cx="3657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mutating request audit logged; standardised error responses.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Technology choices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75488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CyberShield Hub  |  9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1828800" cy="685800"/>
          </a:xfrm>
          <a:prstGeom prst="roundRect">
            <a:avLst>
              <a:gd name="adj" fmla="val 10667"/>
            </a:avLst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18872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2606040" y="1188720"/>
            <a:ext cx="5943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3.12, Django 5, DRF, Simple JWT, drf-spectacular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2057400"/>
            <a:ext cx="1828800" cy="685800"/>
          </a:xfrm>
          <a:prstGeom prst="roundRect">
            <a:avLst>
              <a:gd name="adj" fmla="val 10667"/>
            </a:avLst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205740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2606040" y="2057400"/>
            <a:ext cx="5943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18, Vite, Tailwind CSS, Chart.js, Framer Motion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48640" y="2926080"/>
            <a:ext cx="1828800" cy="685800"/>
          </a:xfrm>
          <a:prstGeom prst="roundRect">
            <a:avLst>
              <a:gd name="adj" fmla="val 10667"/>
            </a:avLst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" y="292608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2606040" y="2926080"/>
            <a:ext cx="5943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Flutter client, tokens in platform keystore, HTTPS-only release builds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48640" y="3794760"/>
            <a:ext cx="1828800" cy="685800"/>
          </a:xfrm>
          <a:prstGeom prst="roundRect">
            <a:avLst>
              <a:gd name="adj" fmla="val 10667"/>
            </a:avLst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48640" y="379476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2606040" y="3794760"/>
            <a:ext cx="5943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for zero-setup; MySQL 8 via one environment variable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Testing and quality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75488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CyberShield Hub  |  10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3931920" cy="3200400"/>
          </a:xfrm>
          <a:prstGeom prst="roundRect">
            <a:avLst>
              <a:gd name="adj" fmla="val 2286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2801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Backend: pytest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1645920"/>
            <a:ext cx="36576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Suites per app covering: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and RBAC permissions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and phishing grading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 workflow and evidence upload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Alerts, audit logging, analytics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663440" y="1188720"/>
            <a:ext cx="3931920" cy="3200400"/>
          </a:xfrm>
          <a:prstGeom prst="roundRect">
            <a:avLst>
              <a:gd name="adj" fmla="val 2286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800600" y="12801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and docs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4800600" y="1645920"/>
            <a:ext cx="36576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Flutter client tests pass; recent fixes covered narrow-screen layout and evidence validation. API documented via Swagger at /api/v1/docs/ and a full project report.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Challenges and lessons learned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75488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CyberShield Hub  |  11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8872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Enforcing RBAC consistently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4023360" y="118872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Centralised permission classes instead of per-view checks.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05740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file uploads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4023360" y="205740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Allow-listed types and size limits validated server-side.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92608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Phones and small screens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4023360" y="292608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footer overflow on narrow alert cards.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379476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Trustworthy grading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4023360" y="379476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Scoring lives in tested service functions.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 and future work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63040"/>
            <a:ext cx="38404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Delivered</a:t>
            </a:r>
            <a:endParaRPr lang="en-US" sz="20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Training, testing, incident response, analytics and audit in one secured platform on web and mobile.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4754880" y="1463040"/>
            <a:ext cx="38404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Email-based phishing campaigns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Multi-factor authentication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SIEM integration and production hosting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02336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you. Questions?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CyberShield Hub - Project Defence</dc:title>
  <dc:subject>PptxGenJS Presentation</dc:subject>
  <dc:creator>PptxGenJS</dc:creator>
  <cp:lastModifiedBy>PptxGenJS</cp:lastModifiedBy>
  <cp:revision>1</cp:revision>
  <dcterms:created xsi:type="dcterms:W3CDTF">2026-10-12T04:53:43Z</dcterms:created>
  <dcterms:modified xsi:type="dcterms:W3CDTF">2026-10-12T04:53:43Z</dcterms:modified>
</cp:coreProperties>
</file>